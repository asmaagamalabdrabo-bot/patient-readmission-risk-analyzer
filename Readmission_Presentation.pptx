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21bc9d60-501a-c270-d0ca-a8d53796b194}">
          <p14:sldIdLst>
            <p14:sldId id="256"/>
          </p14:sldIdLst>
        </p14:section>
        <p14:section name="Data" id="{036298f2-ef07-a7fd-0899-9485b502fd16}">
          <p14:sldIdLst>
            <p14:sldId id="257"/>
            <p14:sldId id="258"/>
          </p14:sldIdLst>
        </p14:section>
        <p14:section name="Analysis" id="{685f7332-92ac-5438-25ab-cb934057051e}">
          <p14:sldIdLst>
            <p14:sldId id="259"/>
          </p14:sldIdLst>
        </p14:section>
        <p14:section name="Results" id="{22f8162e-dd9a-7938-3fea-64b9a92398f9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3B"/>
                </a:solidFill>
                <a:latin typeface="+mn-lt"/>
              </a:rPr>
              <a:t>Rows kept after each step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BFD9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D9D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D9D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D9D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Raw stays</c:v>
                  </c:pt>
                  <c:pt idx="1">
                    <c:v>Valid gender</c:v>
                  </c:pt>
                  <c:pt idx="2">
                    <c:v>Alive at discharge</c:v>
                  </c:pt>
                  <c:pt idx="3">
                    <c:v>First stay per patient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101766</c:v>
                </c:pt>
                <c:pt idx="1">
                  <c:v>101763</c:v>
                </c:pt>
                <c:pt idx="2">
                  <c:v>99340</c:v>
                </c:pt>
                <c:pt idx="3">
                  <c:v>69987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2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3B"/>
                </a:solidFill>
                <a:latin typeface="+mn-lt"/>
              </a:rPr>
              <a:t>30-day readmission by prior inpatient stays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117A8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8.1</c:v>
                </c:pt>
                <c:pt idx="1">
                  <c:v>12.9</c:v>
                </c:pt>
                <c:pt idx="2">
                  <c:v>18.5</c:v>
                </c:pt>
                <c:pt idx="3">
                  <c:v>23.8</c:v>
                </c:pt>
                <c:pt idx="4">
                  <c:v>29.3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2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3B"/>
                </a:solidFill>
                <a:latin typeface="+mn-lt"/>
              </a:rPr>
              <a:t>30-day readmission by discharge destination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117A8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Home</c:v>
                  </c:pt>
                  <c:pt idx="1">
                    <c:v>Home health</c:v>
                  </c:pt>
                  <c:pt idx="2">
                    <c:v>Facility / SNF</c:v>
                  </c:pt>
                  <c:pt idx="3">
                    <c:v>Transfer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6.9</c:v>
                </c:pt>
                <c:pt idx="1">
                  <c:v>9.5</c:v>
                </c:pt>
                <c:pt idx="2">
                  <c:v>15.3</c:v>
                </c:pt>
                <c:pt idx="3">
                  <c:v>14.5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2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3B"/>
                </a:solidFill>
                <a:latin typeface="+mn-lt"/>
              </a:rPr>
              <a:t>Readmission rate by risk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7A8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 (top 10%)</c:v>
                  </c:pt>
                  <c:pt idx="1">
                    <c:v>Medium (next 20%)</c:v>
                  </c:pt>
                  <c:pt idx="2">
                    <c:v>Low (other 70%)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20.1</c:v>
                </c:pt>
                <c:pt idx="1">
                  <c:v>12</c:v>
                </c:pt>
                <c:pt idx="2">
                  <c:v>6.5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B2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Unplanned readmissions cost beds, money and patient outcomes. In this data, 9.0% of first-time patients return within 30 days (11.2% if every stay is counted). The question: who should get extra follow-up at discharge?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Real, messy hospital data: three columns are heavily missing, IDs are coded numbers, and the same patient can appear many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Dead or hospice patients cannot be readmitted, so keeping them understates risk. Keeping only the first stay per patient avoids counting the same person many times. Result: 69,987 unique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Tools: Python, pandas, scikit-learn. Logistic regression gave AUC 0.642 and gradient boosting 0.648, so boosting was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average is 9.0%. Prior stays: 8.1% with none, 29.3% with four or more. Discharge: 6.9% at home vs 15.3% to a facility. Age (70+) and long stays (8-14 days) add 1 to 3 points; gender, race and admission type barely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scenario: per 10,000 discharges about 900 readmissions; if extra follow-up cut High and Medium returns by 20% (an assumption), about 88 would be avoided.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D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D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DATA ANALYSIS PROJECT  |  HEALTHCARE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comes back?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9DF"/>
                </a:solidFill>
              </a:rPr>
              <a:t>Reducing 30-day readmissions in diabetic hospital patients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731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first-time diabetic patients is back in hospital within 30 days of discharge</a:t>
            </a:r>
            <a:endParaRPr lang="en-US" sz="1400" dirty="0"/>
          </a:p>
        </p:txBody>
      </p:sp>
      <p:sp>
        <p:nvSpPr>
          <p:cNvPr id="7" name="idea-card"/>
          <p:cNvSpPr/>
          <p:nvPr/>
        </p:nvSpPr>
        <p:spPr>
          <a:xfrm>
            <a:off x="457200" y="278892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12384C"/>
          </a:solidFill>
          <a:ln w="12700">
            <a:solidFill>
              <a:srgbClr val="12384C"/>
            </a:solidFill>
            <a:prstDash val="solid"/>
          </a:ln>
        </p:spPr>
      </p:sp>
      <p:sp>
        <p:nvSpPr>
          <p:cNvPr id="8" name="goal-card"/>
          <p:cNvSpPr/>
          <p:nvPr/>
        </p:nvSpPr>
        <p:spPr>
          <a:xfrm>
            <a:off x="4709160" y="278892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12384C"/>
          </a:solidFill>
          <a:ln w="12700">
            <a:solidFill>
              <a:srgbClr val="1238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THE IDEA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 real hospital records to see which diabetic patients return within 30 days, and why.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THE GOAL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24612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Build a simple risk score so limited follow-up resources reach the patients who need them most.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D9D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dataset</a:t>
            </a:r>
            <a:endParaRPr lang="en-US" sz="3400" dirty="0"/>
          </a:p>
        </p:txBody>
      </p:sp>
      <p:sp>
        <p:nvSpPr>
          <p:cNvPr id="3" name="stat-card-0"/>
          <p:cNvSpPr/>
          <p:nvPr/>
        </p:nvSpPr>
        <p:spPr>
          <a:xfrm>
            <a:off x="457200" y="118872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101,766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hospital stays</a:t>
            </a:r>
            <a:endParaRPr lang="en-US" sz="1400" dirty="0"/>
          </a:p>
        </p:txBody>
      </p:sp>
      <p:sp>
        <p:nvSpPr>
          <p:cNvPr id="6" name="stat-card-1"/>
          <p:cNvSpPr/>
          <p:nvPr/>
        </p:nvSpPr>
        <p:spPr>
          <a:xfrm>
            <a:off x="2560320" y="118872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261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US hospitals</a:t>
            </a:r>
            <a:endParaRPr lang="en-US" sz="1400" dirty="0"/>
          </a:p>
        </p:txBody>
      </p:sp>
      <p:sp>
        <p:nvSpPr>
          <p:cNvPr id="9" name="stat-card-2"/>
          <p:cNvSpPr/>
          <p:nvPr/>
        </p:nvSpPr>
        <p:spPr>
          <a:xfrm>
            <a:off x="4663440" y="118872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61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variables per stay</a:t>
            </a:r>
            <a:endParaRPr lang="en-US" sz="1400" dirty="0"/>
          </a:p>
        </p:txBody>
      </p:sp>
      <p:sp>
        <p:nvSpPr>
          <p:cNvPr id="12" name="stat-card-3"/>
          <p:cNvSpPr/>
          <p:nvPr/>
        </p:nvSpPr>
        <p:spPr>
          <a:xfrm>
            <a:off x="6766560" y="1188720"/>
            <a:ext cx="192024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2618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1999-2008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ten years of records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Patient and admission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age, gender, race, admission type and source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stay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2971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days in hospital, lab tests, procedures, medications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Diabetes care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971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21 diabetes drugs, A1C and glucose tests, medication changes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Outcome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97180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readmitted: within 30 days, after 30 days, or never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Public dataset: Diabetes 130-US hospitals, 1999-2008. One row per hospital stay.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Cleaning and preparation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4114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ep-dot-0"/>
          <p:cNvSpPr/>
          <p:nvPr/>
        </p:nvSpPr>
        <p:spPr>
          <a:xfrm>
            <a:off x="475488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7548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Dropped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4813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weight (97% missing) and 2 constant columns</a:t>
            </a:r>
            <a:endParaRPr lang="en-US" sz="1400" dirty="0"/>
          </a:p>
        </p:txBody>
      </p:sp>
      <p:sp>
        <p:nvSpPr>
          <p:cNvPr id="8" name="step-dot-1"/>
          <p:cNvSpPr/>
          <p:nvPr/>
        </p:nvSpPr>
        <p:spPr>
          <a:xfrm>
            <a:off x="4754880" y="207568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Filled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3225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missing payer, specialty and race set to "Unknown"</a:t>
            </a:r>
            <a:endParaRPr lang="en-US" sz="1400" dirty="0"/>
          </a:p>
        </p:txBody>
      </p:sp>
      <p:sp>
        <p:nvSpPr>
          <p:cNvPr id="12" name="step-dot-2"/>
          <p:cNvSpPr/>
          <p:nvPr/>
        </p:nvSpPr>
        <p:spPr>
          <a:xfrm>
            <a:off x="4754880" y="291693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Removed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31638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 invalid genders, 2,423 deaths and hospice, 29,353 repeat stays</a:t>
            </a:r>
            <a:endParaRPr lang="en-US" sz="1400" dirty="0"/>
          </a:p>
        </p:txBody>
      </p:sp>
      <p:sp>
        <p:nvSpPr>
          <p:cNvPr id="16" name="step-dot-3"/>
          <p:cNvSpPr/>
          <p:nvPr/>
        </p:nvSpPr>
        <p:spPr>
          <a:xfrm>
            <a:off x="4754880" y="3758184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Created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4005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30-day target, age groups, prior visits, diagnosis groups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Analysis workflow</a:t>
            </a:r>
            <a:endParaRPr lang="en-US" sz="3400" dirty="0"/>
          </a:p>
        </p:txBody>
      </p:sp>
      <p:sp>
        <p:nvSpPr>
          <p:cNvPr id="3" name="wf-row-0"/>
          <p:cNvSpPr/>
          <p:nvPr/>
        </p:nvSpPr>
        <p:spPr>
          <a:xfrm>
            <a:off x="457200" y="1188720"/>
            <a:ext cx="822960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wf-dot-0"/>
          <p:cNvSpPr/>
          <p:nvPr/>
        </p:nvSpPr>
        <p:spPr>
          <a:xfrm>
            <a:off x="566928" y="128016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Define the target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18872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Readmitted within 30 days = 1, otherwise 0</a:t>
            </a:r>
            <a:endParaRPr lang="en-US" sz="1400" dirty="0"/>
          </a:p>
        </p:txBody>
      </p:sp>
      <p:sp>
        <p:nvSpPr>
          <p:cNvPr id="8" name="wf-row-1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wf-dot-1"/>
          <p:cNvSpPr/>
          <p:nvPr/>
        </p:nvSpPr>
        <p:spPr>
          <a:xfrm>
            <a:off x="566928" y="197510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975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8366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Explore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88366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Readmission rate for every patient segment</a:t>
            </a:r>
            <a:endParaRPr lang="en-US" sz="1400" dirty="0"/>
          </a:p>
        </p:txBody>
      </p:sp>
      <p:sp>
        <p:nvSpPr>
          <p:cNvPr id="13" name="wf-row-2"/>
          <p:cNvSpPr/>
          <p:nvPr/>
        </p:nvSpPr>
        <p:spPr>
          <a:xfrm>
            <a:off x="457200" y="2578608"/>
            <a:ext cx="822960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wf-dot-2"/>
          <p:cNvSpPr/>
          <p:nvPr/>
        </p:nvSpPr>
        <p:spPr>
          <a:xfrm>
            <a:off x="566928" y="267004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7860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drivers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257860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 gaps against the 9.0% average</a:t>
            </a:r>
            <a:endParaRPr lang="en-US" sz="1400" dirty="0"/>
          </a:p>
        </p:txBody>
      </p:sp>
      <p:sp>
        <p:nvSpPr>
          <p:cNvPr id="18" name="wf-row-3"/>
          <p:cNvSpPr/>
          <p:nvPr/>
        </p:nvSpPr>
        <p:spPr>
          <a:xfrm>
            <a:off x="457200" y="3273552"/>
            <a:ext cx="8229600" cy="585216"/>
          </a:xfrm>
          <a:prstGeom prst="roundRect">
            <a:avLst>
              <a:gd name="adj" fmla="val 156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wf-dot-3"/>
          <p:cNvSpPr/>
          <p:nvPr/>
        </p:nvSpPr>
        <p:spPr>
          <a:xfrm>
            <a:off x="566928" y="33649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7355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Build a risk score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327355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Gradient boosting, trained on 75%, tested on 25%</a:t>
            </a:r>
            <a:endParaRPr lang="en-US" sz="1400" dirty="0"/>
          </a:p>
        </p:txBody>
      </p:sp>
      <p:sp>
        <p:nvSpPr>
          <p:cNvPr id="23" name="wf-row-4"/>
          <p:cNvSpPr/>
          <p:nvPr/>
        </p:nvSpPr>
        <p:spPr>
          <a:xfrm>
            <a:off x="457200" y="3968496"/>
            <a:ext cx="8229600" cy="585216"/>
          </a:xfrm>
          <a:prstGeom prst="roundRect">
            <a:avLst>
              <a:gd name="adj" fmla="val 1562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wf-dot-4"/>
          <p:cNvSpPr/>
          <p:nvPr/>
        </p:nvSpPr>
        <p:spPr>
          <a:xfrm>
            <a:off x="566928" y="4059936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684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Turn it into action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3968496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Split patients into High, Medium and Low tiers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findings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105156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llout-prior"/>
          <p:cNvSpPr/>
          <p:nvPr/>
        </p:nvSpPr>
        <p:spPr>
          <a:xfrm>
            <a:off x="457200" y="3794760"/>
            <a:ext cx="4023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llout-disch"/>
          <p:cNvSpPr/>
          <p:nvPr/>
        </p:nvSpPr>
        <p:spPr>
          <a:xfrm>
            <a:off x="4663440" y="3794760"/>
            <a:ext cx="40233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3.6x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with 4+ prior stays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4800600" y="37947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2.2x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after facility discharge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66344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signals lead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663440" y="145389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 inpatient stays and discharge destination drive risk most.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2103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Focus pays off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241401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top 30% by score holds 49% of all readmissions.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3063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Next step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337413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Pilot targeted follow-up for High and Medium patients and measure the result.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Model accuracy (AUC) is 0.648: a triage aid, not a diagnosis. Data covers 1999-2008 and shows associations, not proven causes.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dmission">
  <a:themeElements>
    <a:clrScheme name="Readmission">
      <a:dk1>
        <a:srgbClr val="0B2A3B"/>
      </a:dk1>
      <a:lt1>
        <a:srgbClr val="FFFFFF"/>
      </a:lt1>
      <a:dk2>
        <a:srgbClr val="117A8B"/>
      </a:dk2>
      <a:lt2>
        <a:srgbClr val="EEF5F7"/>
      </a:lt2>
      <a:accent1>
        <a:srgbClr val="117A8B"/>
      </a:accent1>
      <a:accent2>
        <a:srgbClr val="E4572E"/>
      </a:accent2>
      <a:accent3>
        <a:srgbClr val="F2A541"/>
      </a:accent3>
      <a:accent4>
        <a:srgbClr val="BFD9DF"/>
      </a:accent4>
      <a:accent5>
        <a:srgbClr val="6B7C85"/>
      </a:accent5>
      <a:accent6>
        <a:srgbClr val="12384C"/>
      </a:accent6>
      <a:hlink>
        <a:srgbClr val="117A8B"/>
      </a:hlink>
      <a:folHlink>
        <a:srgbClr val="6B7C85"/>
      </a:folHlink>
    </a:clrScheme>
    <a:fontScheme name="Readmis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30-day readmissions in diabetic patients</dc:title>
  <dc:subject>PptxGenJS Presentation</dc:subject>
  <dc:creator>PptxGenJS</dc:creator>
  <cp:lastModifiedBy>PptxGenJS</cp:lastModifiedBy>
  <cp:revision>1</cp:revision>
  <dcterms:created xsi:type="dcterms:W3CDTF">2026-10-25T16:22:48Z</dcterms:created>
  <dcterms:modified xsi:type="dcterms:W3CDTF">2026-10-25T16:22:48Z</dcterms:modified>
</cp:coreProperties>
</file>